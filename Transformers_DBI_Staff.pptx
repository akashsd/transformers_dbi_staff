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1" r:id="rId9"/>
    <p:sldId id="263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1790A8-12FF-8EC4-8D24-06CA769C612D}" name="Cole, Tyra" initials="CT" userId="S::tyra.cole@dallascityhall.com::c5328750-5296-4c34-8716-625de35956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63F"/>
    <a:srgbClr val="C8DCF0"/>
    <a:srgbClr val="82B7E8"/>
    <a:srgbClr val="FFD24D"/>
    <a:srgbClr val="8EC900"/>
    <a:srgbClr val="4DA3FF"/>
    <a:srgbClr val="87CB35"/>
    <a:srgbClr val="808080"/>
    <a:srgbClr val="33CC33"/>
    <a:srgbClr val="FFE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386626-BFD5-6347-4C69-B91E74165D0E}" v="1" dt="2026-07-17T14:04:52.281"/>
    <p1510:client id="{E045C4C0-8DB8-9A52-EC18-BB55E8558248}" v="18" dt="2026-07-17T14:11:34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od, Akash" userId="97c12e34-df88-4e59-83a6-39eecb12c9e1" providerId="ADAL" clId="{2DECCAA9-5354-4BD3-B23C-36B0D88FFD57}"/>
    <pc:docChg chg="delSld">
      <pc:chgData name="Sood, Akash" userId="97c12e34-df88-4e59-83a6-39eecb12c9e1" providerId="ADAL" clId="{2DECCAA9-5354-4BD3-B23C-36B0D88FFD57}" dt="2026-07-17T14:32:40.844" v="0" actId="47"/>
      <pc:docMkLst>
        <pc:docMk/>
      </pc:docMkLst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69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0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1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2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3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4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5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6"/>
        </pc:sldMkLst>
      </pc:sldChg>
      <pc:sldChg chg="del">
        <pc:chgData name="Sood, Akash" userId="97c12e34-df88-4e59-83a6-39eecb12c9e1" providerId="ADAL" clId="{2DECCAA9-5354-4BD3-B23C-36B0D88FFD57}" dt="2026-07-17T14:32:40.844" v="0" actId="47"/>
        <pc:sldMkLst>
          <pc:docMk/>
          <pc:sldMk cId="0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18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Before we start - chat waterfall. Type one word for what you hope to leave with today, but DON'T send yet. Three, two, one -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webapp - Tokenizer panel. Guess how many tokens 'strawberry' is. Put your guess in chat, then check. I'll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Drop a sentence in chat with a pronoun in it. I'll pick two and run them through the attention viz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Zoom poll launching now - which of these is a transformer? Multi-select. Take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Zoom poll: for a chatbot, which flavor? Vote before I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 drop: one thing you'd want to try at DBI with this. Don't overthink it. I'll read a few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event. Everyone in the Semantic Search panel? Good. Watch me run this first, then I'll take queries from chat. Bonus points if your query doesn't share a single word with the docs you want to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Next-token panel. Click the preset that says 'Dallas Cowboys.' Watch the model be confidently wrong. This is why we don't ship these unsupervised. Then: 1 in chat if you've hit one of these problems at work, 2 if not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Reposting the repo link in chat now - three notebooks in there, first one takes ten minutes and gives you a working semantic search over your own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17352" y="5486400"/>
            <a:ext cx="1828800" cy="1828800"/>
          </a:xfrm>
          <a:prstGeom prst="ellipse">
            <a:avLst/>
          </a:prstGeom>
          <a:solidFill>
            <a:srgbClr val="00102A"/>
          </a:solidFill>
          <a:ln w="9525">
            <a:solidFill>
              <a:srgbClr val="4DA3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10405872" y="5074920"/>
            <a:ext cx="2651760" cy="2651760"/>
          </a:xfrm>
          <a:prstGeom prst="ellipse">
            <a:avLst/>
          </a:prstGeom>
          <a:solidFill>
            <a:srgbClr val="00102A"/>
          </a:solidFill>
          <a:ln w="9525">
            <a:solidFill>
              <a:srgbClr val="4DA3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9994392" y="4663440"/>
            <a:ext cx="3474720" cy="3474720"/>
          </a:xfrm>
          <a:prstGeom prst="ellipse">
            <a:avLst/>
          </a:prstGeom>
          <a:solidFill>
            <a:srgbClr val="00102A"/>
          </a:solidFill>
          <a:ln w="9525">
            <a:solidFill>
              <a:srgbClr val="4DA3FF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9582912" y="4251960"/>
            <a:ext cx="4297680" cy="4297680"/>
          </a:xfrm>
          <a:prstGeom prst="ellipse">
            <a:avLst/>
          </a:prstGeom>
          <a:solidFill>
            <a:srgbClr val="00102A"/>
          </a:solidFill>
          <a:ln w="9525">
            <a:solidFill>
              <a:srgbClr val="4DA3FF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600">
                <a:solidFill>
                  <a:srgbClr val="82B7E8"/>
                </a:solidFill>
                <a:latin typeface="Calibri"/>
                <a:ea typeface="Calibri"/>
                <a:cs typeface="Calibri"/>
              </a:rPr>
              <a:t>DBI STAFF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380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An Introduction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109728" cy="109728"/>
          </a:xfrm>
          <a:prstGeom prst="ellipse">
            <a:avLst/>
          </a:prstGeom>
          <a:solidFill>
            <a:srgbClr val="8EC900"/>
          </a:solidFill>
          <a:ln w="12700">
            <a:solidFill>
              <a:srgbClr val="8EC9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005840" y="4434840"/>
            <a:ext cx="109728" cy="109728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234440" y="4434840"/>
            <a:ext cx="109728" cy="109728"/>
          </a:xfrm>
          <a:prstGeom prst="ellipse">
            <a:avLst/>
          </a:prstGeom>
          <a:solidFill>
            <a:srgbClr val="82B7E8"/>
          </a:solidFill>
          <a:ln w="12700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82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Akash</a:t>
            </a:r>
            <a:r>
              <a:rPr lang="en-US" sz="2000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  ·  Part 1 — Intro</a:t>
            </a:r>
            <a:endParaRPr lang="en-US" sz="32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Tyra</a:t>
            </a:r>
            <a:r>
              <a:rPr lang="en-US" sz="2000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  ·  Part 2 — NER Alerting System</a:t>
            </a:r>
            <a:endParaRPr lang="en-US" sz="3200">
              <a:latin typeface="Calibri"/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4114800" cy="822960"/>
          </a:xfrm>
          <a:prstGeom prst="roundRect">
            <a:avLst/>
          </a:prstGeom>
          <a:solidFill>
            <a:srgbClr val="0E2A4A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4DA3FF"/>
                </a:solidFill>
              </a:rPr>
              <a:t>📱  OPEN THIS WHILE I TALK</a:t>
            </a:r>
          </a:p>
          <a:p>
            <a:pPr algn="l"/>
            <a:r>
              <a:rPr sz="1800" b="1">
                <a:solidFill>
                  <a:srgbClr val="EBF6FF"/>
                </a:solidFill>
              </a:rPr>
              <a:t>dbi-transformers.pages.dev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the next hour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420624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68680" y="2125980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68680" y="2125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157984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Intro to Transformers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889504"/>
            <a:ext cx="4402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·  ~30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What are transformers </a:t>
            </a:r>
            <a:endParaRPr lang="en-US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Pre-transformer NLP and why attention won</a:t>
            </a:r>
            <a:endParaRPr lang="en-US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Types of Transformers</a:t>
            </a:r>
            <a:endParaRPr lang="en-US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— with a focus on semantic search</a:t>
            </a:r>
            <a:endParaRPr lang="en-US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>
                <a:solidFill>
                  <a:srgbClr val="B8C5D9"/>
                </a:solidFill>
                <a:latin typeface="Calibri"/>
                <a:ea typeface="Calibri"/>
                <a:cs typeface="Calibri"/>
              </a:rPr>
              <a:t>Limitations 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31636" y="1737360"/>
            <a:ext cx="5408676" cy="420624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551676" y="2125980"/>
            <a:ext cx="411480" cy="411480"/>
          </a:xfrm>
          <a:prstGeom prst="ellipse">
            <a:avLst/>
          </a:prstGeom>
          <a:solidFill>
            <a:srgbClr val="A8D437"/>
          </a:solidFill>
          <a:ln w="12700">
            <a:solidFill>
              <a:srgbClr val="A8D4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551676" y="21259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00316" y="2157984"/>
            <a:ext cx="4402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BF6FF"/>
                </a:solidFill>
                <a:latin typeface="Calibri"/>
                <a:ea typeface="Calibri"/>
                <a:cs typeface="Calibri"/>
              </a:rPr>
              <a:t>Part 2 — NER Alerting</a:t>
            </a:r>
          </a:p>
        </p:txBody>
      </p:sp>
      <p:sp>
        <p:nvSpPr>
          <p:cNvPr id="14" name="Text 12"/>
          <p:cNvSpPr/>
          <p:nvPr/>
        </p:nvSpPr>
        <p:spPr>
          <a:xfrm>
            <a:off x="7100316" y="2889504"/>
            <a:ext cx="4402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Tyra  ·  ~30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3116" y="292608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Named Entity Recognition?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GliNER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Integration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01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4DA3FF"/>
          </a:solidFill>
          <a:ln w="63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📱  TRY IT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Tokenizer panel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FUNDAMENTALS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transformer?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neural-network architecture</a:t>
            </a:r>
            <a:endParaRPr lang="en-US" sz="2800"/>
          </a:p>
          <a:p>
            <a:pPr marL="0" indent="0">
              <a:spcAft>
                <a:spcPts val="400"/>
              </a:spcAft>
              <a:buNone/>
            </a:pPr>
            <a:r>
              <a:rPr lang="en-US" sz="28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processes sequences </a:t>
            </a:r>
            <a:r>
              <a:rPr lang="en-US" sz="28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r>
              <a:rPr lang="en-US" sz="28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letting every token </a:t>
            </a:r>
            <a:r>
              <a:rPr lang="en-US" sz="28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every other token</a:t>
            </a:r>
            <a:r>
              <a:rPr lang="en-US" sz="28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a mechanism called </a:t>
            </a:r>
            <a:r>
              <a:rPr lang="en-US" sz="28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attention.</a:t>
            </a:r>
            <a:endParaRPr lang="en-US" sz="28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22776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by design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0584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processed simultaneously, not one-by-one like RNNs.</a:t>
            </a:r>
            <a:endParaRPr lang="en-US" sz="1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0016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6634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600"/>
          </a:p>
        </p:txBody>
      </p:sp>
      <p:sp>
        <p:nvSpPr>
          <p:cNvPr id="10" name="Text 6"/>
          <p:cNvSpPr/>
          <p:nvPr/>
        </p:nvSpPr>
        <p:spPr>
          <a:xfrm>
            <a:off x="1005840" y="4937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token's representation depends on every other token in the input.</a:t>
            </a:r>
            <a:endParaRPr lang="en-US" sz="14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77256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5440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layers</a:t>
            </a:r>
            <a:endParaRPr lang="en-US" sz="1600"/>
          </a:p>
        </p:txBody>
      </p:sp>
      <p:sp>
        <p:nvSpPr>
          <p:cNvPr id="13" name="Text 8"/>
          <p:cNvSpPr/>
          <p:nvPr/>
        </p:nvSpPr>
        <p:spPr>
          <a:xfrm>
            <a:off x="1005840" y="5715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attention layers compose into deeper understanding of language.</a:t>
            </a:r>
            <a:endParaRPr lang="en-US" sz="1400"/>
          </a:p>
        </p:txBody>
      </p:sp>
      <p:sp>
        <p:nvSpPr>
          <p:cNvPr id="14" name="Shape 9"/>
          <p:cNvSpPr/>
          <p:nvPr/>
        </p:nvSpPr>
        <p:spPr>
          <a:xfrm>
            <a:off x="6766560" y="1691640"/>
            <a:ext cx="4846320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Text 10"/>
          <p:cNvSpPr/>
          <p:nvPr/>
        </p:nvSpPr>
        <p:spPr>
          <a:xfrm>
            <a:off x="70408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FLOWS</a:t>
            </a:r>
            <a:endParaRPr lang="en-US" sz="1100"/>
          </a:p>
        </p:txBody>
      </p:sp>
      <p:sp>
        <p:nvSpPr>
          <p:cNvPr id="16" name="Shape 11"/>
          <p:cNvSpPr/>
          <p:nvPr/>
        </p:nvSpPr>
        <p:spPr>
          <a:xfrm>
            <a:off x="7100316" y="23317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2"/>
          <p:cNvSpPr/>
          <p:nvPr/>
        </p:nvSpPr>
        <p:spPr>
          <a:xfrm>
            <a:off x="7100316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/>
          </a:p>
        </p:txBody>
      </p:sp>
      <p:sp>
        <p:nvSpPr>
          <p:cNvPr id="18" name="Shape 13"/>
          <p:cNvSpPr/>
          <p:nvPr/>
        </p:nvSpPr>
        <p:spPr>
          <a:xfrm>
            <a:off x="7950708" y="23317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4"/>
          <p:cNvSpPr/>
          <p:nvPr/>
        </p:nvSpPr>
        <p:spPr>
          <a:xfrm>
            <a:off x="7950708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400"/>
          </a:p>
        </p:txBody>
      </p:sp>
      <p:sp>
        <p:nvSpPr>
          <p:cNvPr id="20" name="Shape 15"/>
          <p:cNvSpPr/>
          <p:nvPr/>
        </p:nvSpPr>
        <p:spPr>
          <a:xfrm>
            <a:off x="8801100" y="23317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6"/>
          <p:cNvSpPr/>
          <p:nvPr/>
        </p:nvSpPr>
        <p:spPr>
          <a:xfrm>
            <a:off x="8801100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400"/>
          </a:p>
        </p:txBody>
      </p:sp>
      <p:sp>
        <p:nvSpPr>
          <p:cNvPr id="22" name="Shape 17"/>
          <p:cNvSpPr/>
          <p:nvPr/>
        </p:nvSpPr>
        <p:spPr>
          <a:xfrm>
            <a:off x="9651492" y="23317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18"/>
          <p:cNvSpPr/>
          <p:nvPr/>
        </p:nvSpPr>
        <p:spPr>
          <a:xfrm>
            <a:off x="9651492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/>
          </a:p>
        </p:txBody>
      </p:sp>
      <p:sp>
        <p:nvSpPr>
          <p:cNvPr id="24" name="Shape 19"/>
          <p:cNvSpPr/>
          <p:nvPr/>
        </p:nvSpPr>
        <p:spPr>
          <a:xfrm>
            <a:off x="10501884" y="23317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0"/>
          <p:cNvSpPr/>
          <p:nvPr/>
        </p:nvSpPr>
        <p:spPr>
          <a:xfrm>
            <a:off x="10501884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/>
          </a:p>
        </p:txBody>
      </p:sp>
      <p:sp>
        <p:nvSpPr>
          <p:cNvPr id="26" name="Text 21"/>
          <p:cNvSpPr/>
          <p:nvPr/>
        </p:nvSpPr>
        <p:spPr>
          <a:xfrm>
            <a:off x="704088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050"/>
          </a:p>
        </p:txBody>
      </p:sp>
      <p:sp>
        <p:nvSpPr>
          <p:cNvPr id="27" name="Shape 22"/>
          <p:cNvSpPr/>
          <p:nvPr/>
        </p:nvSpPr>
        <p:spPr>
          <a:xfrm>
            <a:off x="9189720" y="3154680"/>
            <a:ext cx="0" cy="36576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3"/>
          <p:cNvSpPr/>
          <p:nvPr/>
        </p:nvSpPr>
        <p:spPr>
          <a:xfrm>
            <a:off x="7223760" y="361188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4"/>
          <p:cNvSpPr/>
          <p:nvPr/>
        </p:nvSpPr>
        <p:spPr>
          <a:xfrm>
            <a:off x="7223760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600"/>
          </a:p>
        </p:txBody>
      </p:sp>
      <p:sp>
        <p:nvSpPr>
          <p:cNvPr id="30" name="Text 25"/>
          <p:cNvSpPr/>
          <p:nvPr/>
        </p:nvSpPr>
        <p:spPr>
          <a:xfrm>
            <a:off x="72237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 +  feed-forward layers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189720" y="4800600"/>
            <a:ext cx="0" cy="36576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Shape 27"/>
          <p:cNvSpPr/>
          <p:nvPr/>
        </p:nvSpPr>
        <p:spPr>
          <a:xfrm>
            <a:off x="8046720" y="52120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8EC900"/>
          </a:solidFill>
          <a:ln w="12700">
            <a:solidFill>
              <a:srgbClr val="8EC9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8"/>
          <p:cNvSpPr/>
          <p:nvPr/>
        </p:nvSpPr>
        <p:spPr>
          <a:xfrm>
            <a:off x="8046720" y="5212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representation</a:t>
            </a:r>
            <a:endParaRPr lang="en-US" sz="1600"/>
          </a:p>
        </p:txBody>
      </p:sp>
      <p:sp>
        <p:nvSpPr>
          <p:cNvPr id="34" name="Text 29"/>
          <p:cNvSpPr/>
          <p:nvPr/>
        </p:nvSpPr>
        <p:spPr>
          <a:xfrm>
            <a:off x="7040880" y="5806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...used for classification, generation, search, etc.</a:t>
            </a:r>
            <a:endParaRPr lang="en-US" sz="1100"/>
          </a:p>
        </p:txBody>
      </p:sp>
      <p:sp>
        <p:nvSpPr>
          <p:cNvPr id="35" name="Text 3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02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4DA3FF"/>
          </a:solidFill>
          <a:ln w="63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📱  TRY IT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Attention 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HISTORY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/>
                <a:ea typeface="Calibri"/>
                <a:cs typeface="Calibri"/>
              </a:rPr>
              <a:t>From a single paper to everywhere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71600" y="2788920"/>
            <a:ext cx="9445752" cy="0"/>
          </a:xfrm>
          <a:prstGeom prst="line">
            <a:avLst/>
          </a:prstGeom>
          <a:noFill/>
          <a:ln w="25400">
            <a:solidFill>
              <a:srgbClr val="2A3D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1280160" y="2697480"/>
            <a:ext cx="182880" cy="182880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3200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EBF6FF"/>
                </a:solidFill>
                <a:latin typeface="Calibri"/>
                <a:ea typeface="Calibri"/>
                <a:cs typeface="Calibri"/>
              </a:rPr>
              <a:t>Seq2Seq 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/>
                <a:ea typeface="Calibri"/>
                <a:cs typeface="Calibri"/>
              </a:rPr>
              <a:t>+ Attention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16992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Attention added to RNNs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23590" y="2651760"/>
            <a:ext cx="274320" cy="27432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2803550" y="2331720"/>
            <a:ext cx="914400" cy="914400"/>
          </a:xfrm>
          <a:prstGeom prst="ellipse">
            <a:avLst/>
          </a:prstGeom>
          <a:solidFill>
            <a:srgbClr val="001B3B">
              <a:alpha val="0"/>
            </a:srgbClr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230063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220919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220919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— the transformer is born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058461" y="2697480"/>
            <a:ext cx="182880" cy="1828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189781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4098341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 &amp;  GPT-1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479341" y="3738155"/>
            <a:ext cx="1722120" cy="74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+ fine-tuning recipe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947611" y="2697480"/>
            <a:ext cx="182880" cy="1828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6078931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5987491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5987491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175B params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36762" y="2697480"/>
            <a:ext cx="182880" cy="1828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7968082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7876642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7876642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go mainstream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10725912" y="2697480"/>
            <a:ext cx="182880" cy="182880"/>
          </a:xfrm>
          <a:prstGeom prst="ellipse">
            <a:avLst/>
          </a:prstGeom>
          <a:solidFill>
            <a:srgbClr val="A8D437"/>
          </a:solidFill>
          <a:ln w="12700">
            <a:solidFill>
              <a:srgbClr val="A8D4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857232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9765792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+  multimodal era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9765792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Claude, Gemini, vision models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11091672" cy="118872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9240"/>
            <a:ext cx="457200" cy="4572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371600" y="5166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changed everything.  </a:t>
            </a: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(2017) showed you could ditch recurrence entirely and train much faster on much more data. Every model you've heard of since — BERT, GPT, Claude, Llama — is a descendant.</a:t>
            </a:r>
            <a:endParaRPr lang="en-US" sz="2000"/>
          </a:p>
        </p:txBody>
      </p:sp>
      <p:sp>
        <p:nvSpPr>
          <p:cNvPr id="33" name="Text 3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50"/>
          </a:p>
        </p:txBody>
      </p:sp>
      <p:sp>
        <p:nvSpPr>
          <p:cNvPr id="36" name="Rounded Rectangle 35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FFA940"/>
          </a:solidFill>
          <a:ln w="6350">
            <a:solidFill>
              <a:srgbClr val="FFA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📊  ZOOM POLL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Spot the transformer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/>
                <a:ea typeface="Calibri"/>
                <a:cs typeface="Calibri"/>
              </a:rPr>
              <a:t>02 ·  THE CORE IDEA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every word looks at every other word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read </a:t>
            </a:r>
            <a:r>
              <a:rPr lang="en-US" i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officer filed a report because she was on duty,”</a:t>
            </a:r>
            <a:r>
              <a:rPr lang="en-US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 brain instantly links </a:t>
            </a:r>
            <a:r>
              <a:rPr lang="en-US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“she”</a:t>
            </a:r>
            <a:r>
              <a:rPr lang="en-US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“officer.”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does the same thing mathematically. </a:t>
            </a: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token, it computes a weighted score against every other token, then blends those tokens together — emphasizing the ones that matter.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Mechanically:  Query · Key · Value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am I looking for?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what do I have to offer?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actual content I'll pass along, weighted by Query · Key.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239512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6294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 — ILLUSTRATIVE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647688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647688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7125919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125919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7604150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7604150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8082382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8082382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8560613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560613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9038844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038844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9517075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4DA3FF"/>
          </a:solidFill>
          <a:ln w="9525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9517075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9995306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995306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10473538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10473538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10951769" y="22860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10951769" y="22860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6647688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6647688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7125919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8EC900"/>
          </a:solidFill>
          <a:ln w="9525">
            <a:solidFill>
              <a:srgbClr val="A8D4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125919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1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7604150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7604150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8082382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082382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8560613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8560613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9038844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9038844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9517075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9517075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9995306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9995306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10473538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10473538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10951769" y="5029200"/>
            <a:ext cx="441655" cy="457200"/>
          </a:xfrm>
          <a:prstGeom prst="roundRect">
            <a:avLst>
              <a:gd name="adj" fmla="val 12422"/>
            </a:avLst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10951769" y="5029200"/>
            <a:ext cx="441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</a:t>
            </a:r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9525">
            <a:solidFill>
              <a:srgbClr val="4DA3FF">
                <a:alpha val="165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Shape 51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41275">
            <a:solidFill>
              <a:srgbClr val="4DA3FF">
                <a:alpha val="815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Shape 52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12700">
            <a:solidFill>
              <a:srgbClr val="4DA3FF">
                <a:alpha val="23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53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7620">
            <a:solidFill>
              <a:srgbClr val="4DA3FF">
                <a:alpha val="126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Shape 54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19050">
            <a:solidFill>
              <a:srgbClr val="4DA3FF">
                <a:alpha val="36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Shape 55"/>
          <p:cNvSpPr/>
          <p:nvPr/>
        </p:nvSpPr>
        <p:spPr>
          <a:xfrm>
            <a:off x="9737903" y="2743200"/>
            <a:ext cx="0" cy="2286000"/>
          </a:xfrm>
          <a:prstGeom prst="line">
            <a:avLst/>
          </a:prstGeom>
          <a:noFill/>
          <a:ln w="7620">
            <a:solidFill>
              <a:srgbClr val="4DA3FF">
                <a:alpha val="126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Shape 56"/>
          <p:cNvSpPr/>
          <p:nvPr/>
        </p:nvSpPr>
        <p:spPr>
          <a:xfrm>
            <a:off x="9737903" y="2743200"/>
            <a:ext cx="478231" cy="2286000"/>
          </a:xfrm>
          <a:prstGeom prst="line">
            <a:avLst/>
          </a:prstGeom>
          <a:noFill/>
          <a:ln w="8890">
            <a:solidFill>
              <a:srgbClr val="4DA3FF">
                <a:alpha val="152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9" name="Shape 57"/>
          <p:cNvSpPr/>
          <p:nvPr/>
        </p:nvSpPr>
        <p:spPr>
          <a:xfrm>
            <a:off x="9737903" y="2743200"/>
            <a:ext cx="956462" cy="2286000"/>
          </a:xfrm>
          <a:prstGeom prst="line">
            <a:avLst/>
          </a:prstGeom>
          <a:noFill/>
          <a:ln w="6985">
            <a:solidFill>
              <a:srgbClr val="4DA3FF">
                <a:alpha val="113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Shape 58"/>
          <p:cNvSpPr/>
          <p:nvPr/>
        </p:nvSpPr>
        <p:spPr>
          <a:xfrm>
            <a:off x="9737903" y="2743200"/>
            <a:ext cx="1434694" cy="2286000"/>
          </a:xfrm>
          <a:prstGeom prst="line">
            <a:avLst/>
          </a:prstGeom>
          <a:noFill/>
          <a:ln w="6985">
            <a:solidFill>
              <a:srgbClr val="4DA3FF">
                <a:alpha val="113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59"/>
          <p:cNvSpPr/>
          <p:nvPr/>
        </p:nvSpPr>
        <p:spPr>
          <a:xfrm>
            <a:off x="6629400" y="56235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link:  “she” → “officer”</a:t>
            </a:r>
            <a:endParaRPr lang="en-US" sz="1400"/>
          </a:p>
        </p:txBody>
      </p:sp>
      <p:sp>
        <p:nvSpPr>
          <p:cNvPr id="62" name="Text 6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03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FFA940"/>
          </a:solidFill>
          <a:ln w="6350">
            <a:solidFill>
              <a:srgbClr val="FFA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📊  ZOOM POLL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Which flavor for chat?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/>
                <a:ea typeface="Calibri"/>
                <a:cs typeface="Calibri"/>
              </a:rPr>
              <a:t>03 ·  TYPES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flavors of transformer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344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Understanders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</a:t>
            </a:r>
            <a:r>
              <a:rPr lang="en-US" sz="1600" i="1" dirty="0" err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r>
              <a:rPr lang="en-US" sz="16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914400" y="4279392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NER, semantic search, sentence similarity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914400" y="512064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914400" y="5330952"/>
            <a:ext cx="2782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whole input and produces a rich vector per token. Doesn't generate new text.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4337304" y="1737360"/>
            <a:ext cx="3514344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4703064" y="2057400"/>
            <a:ext cx="640080" cy="640080"/>
          </a:xfrm>
          <a:prstGeom prst="ellipse">
            <a:avLst/>
          </a:prstGeom>
          <a:solidFill>
            <a:srgbClr val="A8D437"/>
          </a:solidFill>
          <a:ln w="12700">
            <a:solidFill>
              <a:srgbClr val="A8D4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224" y="21945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3064" y="283464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100"/>
          </a:p>
        </p:txBody>
      </p:sp>
      <p:sp>
        <p:nvSpPr>
          <p:cNvPr id="18" name="Text 14"/>
          <p:cNvSpPr/>
          <p:nvPr/>
        </p:nvSpPr>
        <p:spPr>
          <a:xfrm>
            <a:off x="4703064" y="310896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2800"/>
          </a:p>
        </p:txBody>
      </p:sp>
      <p:sp>
        <p:nvSpPr>
          <p:cNvPr id="19" name="Text 15"/>
          <p:cNvSpPr/>
          <p:nvPr/>
        </p:nvSpPr>
        <p:spPr>
          <a:xfrm>
            <a:off x="4703064" y="356616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family, Llama, Claude, Mistral</a:t>
            </a:r>
            <a:endParaRPr lang="en-US" sz="1600"/>
          </a:p>
        </p:txBody>
      </p:sp>
      <p:sp>
        <p:nvSpPr>
          <p:cNvPr id="20" name="Text 16"/>
          <p:cNvSpPr/>
          <p:nvPr/>
        </p:nvSpPr>
        <p:spPr>
          <a:xfrm>
            <a:off x="4703064" y="406908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/>
          </a:p>
        </p:txBody>
      </p:sp>
      <p:sp>
        <p:nvSpPr>
          <p:cNvPr id="21" name="Text 17"/>
          <p:cNvSpPr/>
          <p:nvPr/>
        </p:nvSpPr>
        <p:spPr>
          <a:xfrm>
            <a:off x="4703064" y="4279392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code generation, summarization, open-ended text</a:t>
            </a:r>
            <a:endParaRPr lang="en-US" sz="1600"/>
          </a:p>
        </p:txBody>
      </p:sp>
      <p:sp>
        <p:nvSpPr>
          <p:cNvPr id="22" name="Text 18"/>
          <p:cNvSpPr/>
          <p:nvPr/>
        </p:nvSpPr>
        <p:spPr>
          <a:xfrm>
            <a:off x="4703064" y="512064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/>
          </a:p>
        </p:txBody>
      </p:sp>
      <p:sp>
        <p:nvSpPr>
          <p:cNvPr id="23" name="Text 19"/>
          <p:cNvSpPr/>
          <p:nvPr/>
        </p:nvSpPr>
        <p:spPr>
          <a:xfrm>
            <a:off x="4703064" y="5330952"/>
            <a:ext cx="2782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token, one at a time. Can only attend to tokens to the left.</a:t>
            </a:r>
            <a:endParaRPr lang="en-US" sz="1600"/>
          </a:p>
        </p:txBody>
      </p:sp>
      <p:sp>
        <p:nvSpPr>
          <p:cNvPr id="24" name="Shape 20"/>
          <p:cNvSpPr/>
          <p:nvPr/>
        </p:nvSpPr>
        <p:spPr>
          <a:xfrm>
            <a:off x="8125968" y="1737360"/>
            <a:ext cx="3514344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1"/>
          <p:cNvSpPr/>
          <p:nvPr/>
        </p:nvSpPr>
        <p:spPr>
          <a:xfrm>
            <a:off x="8491728" y="2057400"/>
            <a:ext cx="640080" cy="640080"/>
          </a:xfrm>
          <a:prstGeom prst="ellipse">
            <a:avLst/>
          </a:prstGeom>
          <a:solidFill>
            <a:srgbClr val="82B7E8"/>
          </a:solidFill>
          <a:ln w="12700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888" y="21945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91728" y="2834640"/>
            <a:ext cx="278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2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491728" y="310896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800"/>
          </a:p>
        </p:txBody>
      </p:sp>
      <p:sp>
        <p:nvSpPr>
          <p:cNvPr id="29" name="Text 24"/>
          <p:cNvSpPr/>
          <p:nvPr/>
        </p:nvSpPr>
        <p:spPr>
          <a:xfrm>
            <a:off x="8491728" y="3566160"/>
            <a:ext cx="278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82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T5, BART, original Vaswani model</a:t>
            </a:r>
            <a:endParaRPr lang="en-US" sz="1600"/>
          </a:p>
        </p:txBody>
      </p:sp>
      <p:sp>
        <p:nvSpPr>
          <p:cNvPr id="30" name="Text 25"/>
          <p:cNvSpPr/>
          <p:nvPr/>
        </p:nvSpPr>
        <p:spPr>
          <a:xfrm>
            <a:off x="8491728" y="406908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/>
          </a:p>
        </p:txBody>
      </p:sp>
      <p:sp>
        <p:nvSpPr>
          <p:cNvPr id="31" name="Text 26"/>
          <p:cNvSpPr/>
          <p:nvPr/>
        </p:nvSpPr>
        <p:spPr>
          <a:xfrm>
            <a:off x="8491728" y="4279392"/>
            <a:ext cx="2782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structured rewriting, NL2SQL</a:t>
            </a:r>
            <a:endParaRPr lang="en-US" sz="1600"/>
          </a:p>
        </p:txBody>
      </p:sp>
      <p:sp>
        <p:nvSpPr>
          <p:cNvPr id="32" name="Text 27"/>
          <p:cNvSpPr/>
          <p:nvPr/>
        </p:nvSpPr>
        <p:spPr>
          <a:xfrm>
            <a:off x="8491728" y="5120640"/>
            <a:ext cx="2782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/>
          </a:p>
        </p:txBody>
      </p:sp>
      <p:sp>
        <p:nvSpPr>
          <p:cNvPr id="33" name="Text 28"/>
          <p:cNvSpPr/>
          <p:nvPr/>
        </p:nvSpPr>
        <p:spPr>
          <a:xfrm>
            <a:off x="8491728" y="5330952"/>
            <a:ext cx="2782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reads the input; decoder writes the output. Best when input and output differ in form.</a:t>
            </a:r>
            <a:endParaRPr lang="en-US" sz="1600"/>
          </a:p>
        </p:txBody>
      </p:sp>
      <p:sp>
        <p:nvSpPr>
          <p:cNvPr id="34" name="Text 2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05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8EC900"/>
          </a:solidFill>
          <a:ln w="6350">
            <a:solidFill>
              <a:srgbClr val="8E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💬  CHAT DROP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What would you try?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/>
                <a:ea typeface="Calibri"/>
                <a:cs typeface="Calibri"/>
              </a:rPr>
              <a:t>04 ·  USE CASES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actually use them for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intent, spam, topic — fine-tune an encoder.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3367278" y="17373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7"/>
          <p:cNvSpPr/>
          <p:nvPr/>
        </p:nvSpPr>
        <p:spPr>
          <a:xfrm>
            <a:off x="3641598" y="20116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1598" y="27889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41598" y="31546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names, places, IDs, vehicle tags out of free text.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6185916" y="17373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5" name="Shape 11"/>
          <p:cNvSpPr/>
          <p:nvPr/>
        </p:nvSpPr>
        <p:spPr>
          <a:xfrm>
            <a:off x="6460236" y="20116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0236" y="27889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460236" y="31546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long reports into briefings.</a:t>
            </a:r>
            <a:endParaRPr lang="en-US" sz="1400"/>
          </a:p>
        </p:txBody>
      </p:sp>
      <p:sp>
        <p:nvSpPr>
          <p:cNvPr id="19" name="Shape 14"/>
          <p:cNvSpPr/>
          <p:nvPr/>
        </p:nvSpPr>
        <p:spPr>
          <a:xfrm>
            <a:off x="9004554" y="17373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5"/>
          <p:cNvSpPr/>
          <p:nvPr/>
        </p:nvSpPr>
        <p:spPr>
          <a:xfrm>
            <a:off x="9278874" y="20116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1488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8874" y="27889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9278874" y="31546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Cross-language transformation at near-human quality.</a:t>
            </a:r>
            <a:endParaRPr lang="en-US" sz="1400"/>
          </a:p>
        </p:txBody>
      </p:sp>
      <p:sp>
        <p:nvSpPr>
          <p:cNvPr id="24" name="Shape 18"/>
          <p:cNvSpPr/>
          <p:nvPr/>
        </p:nvSpPr>
        <p:spPr>
          <a:xfrm>
            <a:off x="548640" y="41376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19"/>
          <p:cNvSpPr/>
          <p:nvPr/>
        </p:nvSpPr>
        <p:spPr>
          <a:xfrm>
            <a:off x="822960" y="44119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5491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51892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chat</a:t>
            </a:r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822960" y="55549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against documents or general knowledge.</a:t>
            </a:r>
            <a:endParaRPr lang="en-US" sz="1400"/>
          </a:p>
        </p:txBody>
      </p:sp>
      <p:sp>
        <p:nvSpPr>
          <p:cNvPr id="29" name="Shape 22"/>
          <p:cNvSpPr/>
          <p:nvPr/>
        </p:nvSpPr>
        <p:spPr>
          <a:xfrm>
            <a:off x="3367278" y="41376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Shape 23"/>
          <p:cNvSpPr/>
          <p:nvPr/>
        </p:nvSpPr>
        <p:spPr>
          <a:xfrm>
            <a:off x="3641598" y="44119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758" y="45491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41598" y="51892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3641598" y="55549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passages by meaning, not just keywords — coming up next.</a:t>
            </a:r>
            <a:endParaRPr lang="en-US" sz="1400"/>
          </a:p>
        </p:txBody>
      </p:sp>
      <p:sp>
        <p:nvSpPr>
          <p:cNvPr id="34" name="Shape 26"/>
          <p:cNvSpPr/>
          <p:nvPr/>
        </p:nvSpPr>
        <p:spPr>
          <a:xfrm>
            <a:off x="6185916" y="41376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5" name="Shape 27"/>
          <p:cNvSpPr/>
          <p:nvPr/>
        </p:nvSpPr>
        <p:spPr>
          <a:xfrm>
            <a:off x="6460236" y="44119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396" y="4549140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60236" y="51892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6460236" y="55549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Copilot-style code completion and refactoring.</a:t>
            </a:r>
            <a:endParaRPr lang="en-US" sz="1400"/>
          </a:p>
        </p:txBody>
      </p:sp>
      <p:sp>
        <p:nvSpPr>
          <p:cNvPr id="39" name="Shape 30"/>
          <p:cNvSpPr/>
          <p:nvPr/>
        </p:nvSpPr>
        <p:spPr>
          <a:xfrm>
            <a:off x="9004554" y="4137660"/>
            <a:ext cx="2635758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40" name="Shape 31"/>
          <p:cNvSpPr/>
          <p:nvPr/>
        </p:nvSpPr>
        <p:spPr>
          <a:xfrm>
            <a:off x="9278874" y="4411980"/>
            <a:ext cx="640080" cy="640080"/>
          </a:xfrm>
          <a:prstGeom prst="ellipse">
            <a:avLst/>
          </a:prstGeom>
          <a:solidFill>
            <a:srgbClr val="082042"/>
          </a:solidFill>
          <a:ln w="9525">
            <a:solidFill>
              <a:srgbClr val="82B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6034" y="4549140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78874" y="5189220"/>
            <a:ext cx="2087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SQL / structured</a:t>
            </a:r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9278874" y="5554980"/>
            <a:ext cx="208711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queries against databases or data lakes.</a:t>
            </a:r>
            <a:endParaRPr lang="en-US" sz="1400"/>
          </a:p>
        </p:txBody>
      </p:sp>
      <p:sp>
        <p:nvSpPr>
          <p:cNvPr id="44" name="Text 3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06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4DA3FF"/>
          </a:solidFill>
          <a:ln w="63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📱  TRY IT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Semantic search -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/>
                <a:ea typeface="Calibri"/>
                <a:cs typeface="Calibri"/>
              </a:rPr>
              <a:t>05 ·  SPOTLIGHT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— finding meaning, not keywords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keyword search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 </a:t>
            </a:r>
            <a:r>
              <a:rPr lang="en-US" sz="1600" b="1" i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“traffic stop near downtown”</a:t>
            </a: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Misses:  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“vehicle pulled over in CBD”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“routine stop, Main &amp; Commerce”</a:t>
            </a:r>
            <a:endParaRPr lang="en-US" sz="16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“subject detained at intersection downtown”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compare meaning, not strings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document through an encoder transformer. You get a fixed-length </a:t>
            </a:r>
            <a:r>
              <a:rPr lang="en-US" sz="1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</a:t>
            </a: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point in high-dimensional space where similar meanings cluster.</a:t>
            </a:r>
            <a:endParaRPr lang="en-US" sz="160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60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time, embed the query the same way and find the nearest neighbors. Cosine similarity is the usual distance.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239512" cy="4572000"/>
          </a:xfrm>
          <a:prstGeom prst="rect">
            <a:avLst/>
          </a:prstGeom>
          <a:solidFill>
            <a:srgbClr val="0E2A4A"/>
          </a:solidFill>
          <a:ln w="12700">
            <a:solidFill>
              <a:srgbClr val="0E2A4A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629400" y="182880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— SIMILAR MEANINGS CLUSTER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7315200" y="2560320"/>
            <a:ext cx="164592" cy="164592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7772400" y="3017520"/>
            <a:ext cx="164592" cy="164592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7223760" y="3291840"/>
            <a:ext cx="164592" cy="164592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7955280" y="2743200"/>
            <a:ext cx="164592" cy="164592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10058400" y="246888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10607040" y="274320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10332720" y="320040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10972800" y="301752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8961120" y="475488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9601200" y="493776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9326880" y="429768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10058400" y="4572000"/>
            <a:ext cx="164592" cy="164592"/>
          </a:xfrm>
          <a:prstGeom prst="ellipse">
            <a:avLst/>
          </a:prstGeom>
          <a:solidFill>
            <a:srgbClr val="7A8AA0"/>
          </a:solidFill>
          <a:ln w="12700">
            <a:solidFill>
              <a:srgbClr val="7A8A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6812280" y="2880360"/>
            <a:ext cx="329184" cy="329184"/>
          </a:xfrm>
          <a:prstGeom prst="ellipse">
            <a:avLst/>
          </a:prstGeom>
          <a:solidFill>
            <a:srgbClr val="8EC900"/>
          </a:solidFill>
          <a:ln w="19050">
            <a:solidFill>
              <a:srgbClr val="A8D43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Shape 22"/>
          <p:cNvSpPr/>
          <p:nvPr/>
        </p:nvSpPr>
        <p:spPr>
          <a:xfrm>
            <a:off x="7141464" y="3044952"/>
            <a:ext cx="457200" cy="45720"/>
          </a:xfrm>
          <a:prstGeom prst="line">
            <a:avLst/>
          </a:prstGeom>
          <a:noFill/>
          <a:ln w="15875">
            <a:solidFill>
              <a:srgbClr val="A8D437"/>
            </a:solidFill>
            <a:prstDash val="dash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44652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A8D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6751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traffic-stop reports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005840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crimes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96112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incidents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629400" y="571500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 to the query → semantically related docs, even with zero word overlap.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07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4DA3FF"/>
          </a:solidFill>
          <a:ln w="63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📱  TRY IT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Next-token predictor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DA3FF"/>
                </a:solidFill>
                <a:latin typeface="Calibri"/>
                <a:ea typeface="Calibri"/>
                <a:cs typeface="Calibri"/>
              </a:rPr>
              <a:t>06·  TRADE-OFFS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reach for a transformer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973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973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(generative)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68680" y="2708910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models invent plausible-sounding wrong answers. Always pair with retrieval, validation, or human review for high-stakes 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2064" y="17373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944" y="18973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53584" y="18973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memory cost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674108" y="2596896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O(n²) in sequence length. Long-doc workloads need chunking, sparse attention, or hybrid retrieval.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95488" y="17373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368" y="18973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7008" y="189738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CPU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8506968" y="2601468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slow without a GPU. For real-time use, prefer smaller distilled models or quantized weights.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1376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8625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28625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data sensitivity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868680" y="5006340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whatever's in its training data. Vet outputs, document known failure modes, audit for protected attributes.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22064" y="41376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4944" y="428625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45024" y="428625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4674108" y="5006340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APIs send data off-network. For sensitive data (CJIS, HIPAA, PII), use on-prem open-weights models.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95488" y="4137660"/>
            <a:ext cx="3544824" cy="2171700"/>
          </a:xfrm>
          <a:prstGeom prst="rect">
            <a:avLst/>
          </a:prstGeom>
          <a:solidFill>
            <a:srgbClr val="0E2A4A"/>
          </a:solidFill>
          <a:ln w="12700">
            <a:solidFill>
              <a:srgbClr val="2A3D5C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8368" y="428625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27008" y="428625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B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regex wins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8418576" y="5006340"/>
            <a:ext cx="290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task is structured, narrow, and the patterns are stable — a rule-based system is faster, cheaper, and easier to debug.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105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3072" y="6519672"/>
            <a:ext cx="146304" cy="1463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08 / 14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144000" y="384048"/>
            <a:ext cx="2514600" cy="502920"/>
          </a:xfrm>
          <a:prstGeom prst="roundRect">
            <a:avLst/>
          </a:prstGeom>
          <a:solidFill>
            <a:srgbClr val="8EC900"/>
          </a:solidFill>
          <a:ln w="6350">
            <a:solidFill>
              <a:srgbClr val="8EC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000" b="1">
                <a:solidFill>
                  <a:srgbClr val="001B3B"/>
                </a:solidFill>
              </a:rPr>
              <a:t>💬  CHAT DROP</a:t>
            </a:r>
          </a:p>
          <a:p>
            <a:pPr algn="l"/>
            <a:r>
              <a:rPr sz="1100">
                <a:solidFill>
                  <a:srgbClr val="001B3B"/>
                </a:solidFill>
              </a:rPr>
              <a:t>Notebooks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e0da85-d5d6-4a75-97e4-ccf603eeb324">
      <Terms xmlns="http://schemas.microsoft.com/office/infopath/2007/PartnerControls"/>
    </lcf76f155ced4ddcb4097134ff3c332f>
    <TaxCatchAll xmlns="7f1ae6f6-acba-42c9-bd43-45a12384331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65205C22AF8542B0F394E6B7B57951" ma:contentTypeVersion="12" ma:contentTypeDescription="Create a new document." ma:contentTypeScope="" ma:versionID="6b25bc4d651867be7ad5a3f63c472ba7">
  <xsd:schema xmlns:xsd="http://www.w3.org/2001/XMLSchema" xmlns:xs="http://www.w3.org/2001/XMLSchema" xmlns:p="http://schemas.microsoft.com/office/2006/metadata/properties" xmlns:ns2="c7e0da85-d5d6-4a75-97e4-ccf603eeb324" xmlns:ns3="7f1ae6f6-acba-42c9-bd43-45a123843310" targetNamespace="http://schemas.microsoft.com/office/2006/metadata/properties" ma:root="true" ma:fieldsID="fbd1b3916c218ee213eba78384f2e2e8" ns2:_="" ns3:_="">
    <xsd:import namespace="c7e0da85-d5d6-4a75-97e4-ccf603eeb324"/>
    <xsd:import namespace="7f1ae6f6-acba-42c9-bd43-45a1238433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0da85-d5d6-4a75-97e4-ccf603eeb3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f129153-c9da-4731-902e-e72b4f7b29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ae6f6-acba-42c9-bd43-45a12384331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5ef420e-ece9-4041-89cf-eb41e498e064}" ma:internalName="TaxCatchAll" ma:showField="CatchAllData" ma:web="7f1ae6f6-acba-42c9-bd43-45a1238433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78BB45-3CFB-49E3-AFF4-BC9F4A623B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917323-287F-416A-A8DF-20C5CD8153DE}">
  <ds:schemaRefs>
    <ds:schemaRef ds:uri="http://purl.org/dc/dcmitype/"/>
    <ds:schemaRef ds:uri="http://www.w3.org/XML/1998/namespace"/>
    <ds:schemaRef ds:uri="http://schemas.microsoft.com/office/2006/documentManagement/types"/>
    <ds:schemaRef ds:uri="c7e0da85-d5d6-4a75-97e4-ccf603eeb324"/>
    <ds:schemaRef ds:uri="http://purl.org/dc/elements/1.1/"/>
    <ds:schemaRef ds:uri="7f1ae6f6-acba-42c9-bd43-45a123843310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327657E-B115-4940-99DE-A395F92BA3DD}">
  <ds:schemaRefs>
    <ds:schemaRef ds:uri="7f1ae6f6-acba-42c9-bd43-45a123843310"/>
    <ds:schemaRef ds:uri="c7e0da85-d5d6-4a75-97e4-ccf603eeb3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1025</Words>
  <Application>Microsoft Office PowerPoint</Application>
  <PresentationFormat>Widescreen</PresentationFormat>
  <Paragraphs>195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Transformers: A Practical Introduction</dc:title>
  <dc:subject>PptxGenJS Presentation</dc:subject>
  <dc:creator>Akash &amp; Tyra</dc:creator>
  <cp:lastModifiedBy>Sood, Akash</cp:lastModifiedBy>
  <cp:revision>16</cp:revision>
  <cp:lastPrinted>2026-06-02T22:17:44Z</cp:lastPrinted>
  <dcterms:created xsi:type="dcterms:W3CDTF">2026-05-27T19:59:53Z</dcterms:created>
  <dcterms:modified xsi:type="dcterms:W3CDTF">2026-07-17T14:32:42Z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0x010100E665205C22AF8542B0F394E6B7B57951</vt:lpwstr>
  </property>
  <property fmtid="{D5CDD505-2E9C-101B-9397-08002B2CF9AE}" pid="3" name="MediaServiceImageTags">
    <vt:lpwstr/>
  </property>
</Properties>
</file>